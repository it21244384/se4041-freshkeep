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d8d98ca-a981-49ab-403c-12683d1513df}">
          <p14:sldIdLst>
            <p14:sldId id="256"/>
          </p14:sldIdLst>
        </p14:section>
        <p14:section name="Problem" id="{832bafff-de3c-33b5-1f47-ac5922cd019e}">
          <p14:sldIdLst>
            <p14:sldId id="257"/>
            <p14:sldId id="258"/>
          </p14:sldIdLst>
        </p14:section>
        <p14:section name="Solution" id="{e624810f-990c-ae6f-f444-d182882b60f2}">
          <p14:sldIdLst>
            <p14:sldId id="259"/>
            <p14:sldId id="260"/>
            <p14:sldId id="261"/>
          </p14:sldIdLst>
        </p14:section>
        <p14:section name="Market" id="{9b59d1f1-d267-1612-c760-d9ca19074e1f}">
          <p14:sldIdLst>
            <p14:sldId id="262"/>
            <p14:sldId id="263"/>
          </p14:sldIdLst>
        </p14:section>
        <p14:section name="Business" id="{d870e9ff-25d9-4772-d309-2e7b44d1796d}">
          <p14:sldIdLst>
            <p14:sldId id="264"/>
            <p14:sldId id="265"/>
          </p14:sldIdLst>
        </p14:section>
        <p14:section name="Technology" id="{3ea45c97-1a7c-f740-6a74-2a1ccb40006c}">
          <p14:sldIdLst>
            <p14:sldId id="266"/>
            <p14:sldId id="267"/>
          </p14:sldIdLst>
        </p14:section>
        <p14:section name="Close" id="{848f424c-c097-4992-c97a-5982b8af004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 am Abisheak. FreshKeep Spatial is a visionOS app that lets people see everything in their kitchen in 3D and rescue food before it expires.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forgetting. UNEP estimates 79 kg per person per year is wasted at home. Existing apps fail because data entry is boring.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Spatial computing turns an invisible problem into something you can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prototype has three scenes. All share the same data as the iPhone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open the fridge volume, pinch a banana to see its card, drag it into the pot. Then open the expiry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interaction maps to the native visionOS input model: look, pinch, drag.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Competitors either do recipes, kitchen design or need special hardware. Nobody makes the food itself visible and urgent.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 with people who already use FreshKeep on iPhone and own a Vision Pro, then grow as headsets get cheaper.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iPhone app stays free to build habit. Spatial features are part of a Plus subscription. Later, partnerships with grocers and appliance makers.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iOS first to grow users cheaply, then the spatial app as the premium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core code powers both apps, so features ship to both platforms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make the experience even more physical: labels attached to the real fridge.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Happy to take questions or show the prototype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6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5760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C8E8D4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4"/>
                </a:solidFill>
              </a:rPr>
              <a:t>FreshKeep Spatial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FreshKeep Spatial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57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8E8D4"/>
                </a:solidFill>
              </a:rPr>
              <a:t>Your whole kitchen, at a glance — so nothing goes to waste</a:t>
            </a:r>
            <a:endParaRPr lang="en-US" sz="2200" dirty="0"/>
          </a:p>
        </p:txBody>
      </p:sp>
      <p:pic>
        <p:nvPicPr>
          <p:cNvPr id="4" name="img-1" descr="C:\Users\srith\Projects\SE4041-FreshKeep\docs\image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828800"/>
            <a:ext cx="2651760" cy="2651760"/>
          </a:xfrm>
          <a:prstGeom prst="ellipse">
            <a:avLst/>
          </a:prstGeom>
        </p:spPr>
      </p:pic>
      <p:sp>
        <p:nvSpPr>
          <p:cNvPr id="5" name="t-2"/>
          <p:cNvSpPr txBox="1"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E8D4"/>
                </a:solidFill>
              </a:rPr>
              <a:t>Abisheak S · IT21244384 · SE4041 Assignment 02 — Part B (visionOS)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Households throw away food they forgot they had</a:t>
            </a:r>
            <a:endParaRPr lang="en-US" sz="3600" dirty="0"/>
          </a:p>
        </p:txBody>
      </p:sp>
      <p:sp>
        <p:nvSpPr>
          <p:cNvPr id="3" name="card-3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3673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4" name="t-4"/>
          <p:cNvSpPr txBox="1"/>
          <p:nvPr/>
        </p:nvSpPr>
        <p:spPr>
          <a:xfrm>
            <a:off x="914400" y="18288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0F6B47"/>
                </a:solidFill>
              </a:rPr>
              <a:t>79 kg</a:t>
            </a:r>
            <a:endParaRPr lang="en-US" sz="8000" dirty="0"/>
          </a:p>
        </p:txBody>
      </p:sp>
      <p:sp>
        <p:nvSpPr>
          <p:cNvPr id="5" name="t-5"/>
          <p:cNvSpPr txBox="1"/>
          <p:nvPr/>
        </p:nvSpPr>
        <p:spPr>
          <a:xfrm>
            <a:off x="914400" y="32004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F6B64"/>
                </a:solidFill>
              </a:rPr>
              <a:t>of food wasted per person, per year, at home (UNEP Food Waste Index 2024)</a:t>
            </a:r>
            <a:endParaRPr lang="en-US" sz="1800" dirty="0"/>
          </a:p>
        </p:txBody>
      </p:sp>
      <p:sp>
        <p:nvSpPr>
          <p:cNvPr id="6" name="t-6"/>
          <p:cNvSpPr txBox="1"/>
          <p:nvPr/>
        </p:nvSpPr>
        <p:spPr>
          <a:xfrm>
            <a:off x="914400" y="43891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814"/>
                </a:solidFill>
              </a:rPr>
              <a:t>Households are the single largest source of food waste.</a:t>
            </a:r>
            <a:endParaRPr lang="en-US" sz="1800" dirty="0"/>
          </a:p>
        </p:txBody>
      </p:sp>
      <p:sp>
        <p:nvSpPr>
          <p:cNvPr id="7" name="icon-bg-7"/>
          <p:cNvSpPr/>
          <p:nvPr/>
        </p:nvSpPr>
        <p:spPr>
          <a:xfrm>
            <a:off x="6217920" y="1554480"/>
            <a:ext cx="685800" cy="685800"/>
          </a:xfrm>
          <a:prstGeom prst="ellipse">
            <a:avLst/>
          </a:prstGeom>
          <a:solidFill>
            <a:srgbClr val="EF6C2F"/>
          </a:solidFill>
          <a:ln w="12700">
            <a:solidFill>
              <a:srgbClr val="EF6C2F"/>
            </a:solidFill>
            <a:prstDash val="solid"/>
          </a:ln>
        </p:spPr>
      </p:sp>
      <p:sp>
        <p:nvSpPr>
          <p:cNvPr id="8" name="icon-7"/>
          <p:cNvSpPr txBox="1"/>
          <p:nvPr/>
        </p:nvSpPr>
        <p:spPr>
          <a:xfrm>
            <a:off x="621792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</a:rPr>
              <a:t>🙈</a:t>
            </a:r>
            <a:endParaRPr lang="en-US" sz="1950" dirty="0"/>
          </a:p>
        </p:txBody>
      </p:sp>
      <p:sp>
        <p:nvSpPr>
          <p:cNvPr id="9" name="t-8"/>
          <p:cNvSpPr txBox="1"/>
          <p:nvPr/>
        </p:nvSpPr>
        <p:spPr>
          <a:xfrm>
            <a:off x="7132320" y="1554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14"/>
                </a:solidFill>
              </a:rPr>
              <a:t>Out of sight, out of mind</a:t>
            </a:r>
            <a:endParaRPr lang="en-US" sz="2000" dirty="0"/>
          </a:p>
        </p:txBody>
      </p:sp>
      <p:sp>
        <p:nvSpPr>
          <p:cNvPr id="10" name="t-9"/>
          <p:cNvSpPr txBox="1"/>
          <p:nvPr/>
        </p:nvSpPr>
        <p:spPr>
          <a:xfrm>
            <a:off x="7132320" y="2011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Food at the back of the fridge is forgotten until it smells.</a:t>
            </a:r>
            <a:endParaRPr lang="en-US" sz="1600" dirty="0"/>
          </a:p>
        </p:txBody>
      </p:sp>
      <p:sp>
        <p:nvSpPr>
          <p:cNvPr id="11" name="icon-bg-10"/>
          <p:cNvSpPr/>
          <p:nvPr/>
        </p:nvSpPr>
        <p:spPr>
          <a:xfrm>
            <a:off x="6217920" y="3017520"/>
            <a:ext cx="685800" cy="6858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2" name="icon-10"/>
          <p:cNvSpPr txBox="1"/>
          <p:nvPr/>
        </p:nvSpPr>
        <p:spPr>
          <a:xfrm>
            <a:off x="621792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</a:rPr>
              <a:t>⌨️</a:t>
            </a:r>
            <a:endParaRPr lang="en-US" sz="1950" dirty="0"/>
          </a:p>
        </p:txBody>
      </p:sp>
      <p:sp>
        <p:nvSpPr>
          <p:cNvPr id="13" name="t-11"/>
          <p:cNvSpPr txBox="1"/>
          <p:nvPr/>
        </p:nvSpPr>
        <p:spPr>
          <a:xfrm>
            <a:off x="7132320" y="30175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14"/>
                </a:solidFill>
              </a:rPr>
              <a:t>Tracking apps are tedious</a:t>
            </a:r>
            <a:endParaRPr lang="en-US" sz="2000" dirty="0"/>
          </a:p>
        </p:txBody>
      </p:sp>
      <p:sp>
        <p:nvSpPr>
          <p:cNvPr id="14" name="t-12"/>
          <p:cNvSpPr txBox="1"/>
          <p:nvPr/>
        </p:nvSpPr>
        <p:spPr>
          <a:xfrm>
            <a:off x="7132320" y="3474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Typing every item and date by hand — people give up in days.</a:t>
            </a:r>
            <a:endParaRPr lang="en-US" sz="1600" dirty="0"/>
          </a:p>
        </p:txBody>
      </p:sp>
      <p:sp>
        <p:nvSpPr>
          <p:cNvPr id="15" name="icon-bg-13"/>
          <p:cNvSpPr/>
          <p:nvPr/>
        </p:nvSpPr>
        <p:spPr>
          <a:xfrm>
            <a:off x="6217920" y="4480560"/>
            <a:ext cx="685800" cy="6858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6" name="icon-13"/>
          <p:cNvSpPr txBox="1"/>
          <p:nvPr/>
        </p:nvSpPr>
        <p:spPr>
          <a:xfrm>
            <a:off x="6217920" y="4480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</a:rPr>
              <a:t>🤷</a:t>
            </a:r>
            <a:endParaRPr lang="en-US" sz="1950" dirty="0"/>
          </a:p>
        </p:txBody>
      </p:sp>
      <p:sp>
        <p:nvSpPr>
          <p:cNvPr id="17" name="t-14"/>
          <p:cNvSpPr txBox="1"/>
          <p:nvPr/>
        </p:nvSpPr>
        <p:spPr>
          <a:xfrm>
            <a:off x="7132320" y="4480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14"/>
                </a:solidFill>
              </a:rPr>
              <a:t>No idea what to use first</a:t>
            </a:r>
            <a:endParaRPr lang="en-US" sz="2000" dirty="0"/>
          </a:p>
        </p:txBody>
      </p:sp>
      <p:sp>
        <p:nvSpPr>
          <p:cNvPr id="18" name="t-15"/>
          <p:cNvSpPr txBox="1"/>
          <p:nvPr/>
        </p:nvSpPr>
        <p:spPr>
          <a:xfrm>
            <a:off x="7132320" y="49377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Nothing tells you which food is about to expire today.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Why spatial computing?</a:t>
            </a:r>
            <a:endParaRPr lang="en-US" sz="3600" dirty="0"/>
          </a:p>
        </p:txBody>
      </p:sp>
      <p:sp>
        <p:nvSpPr>
          <p:cNvPr id="3" name="card-16"/>
          <p:cNvSpPr/>
          <p:nvPr/>
        </p:nvSpPr>
        <p:spPr>
          <a:xfrm>
            <a:off x="548640" y="1463040"/>
            <a:ext cx="5440680" cy="2103120"/>
          </a:xfrm>
          <a:prstGeom prst="roundRect">
            <a:avLst>
              <a:gd name="adj" fmla="val 7826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4" name="icon-bg-17"/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5" name="icon-17"/>
          <p:cNvSpPr txBox="1"/>
          <p:nvPr/>
        </p:nvSpPr>
        <p:spPr>
          <a:xfrm>
            <a:off x="86868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</a:rPr>
              <a:t>🧊</a:t>
            </a:r>
            <a:endParaRPr lang="en-US" sz="1950" dirty="0"/>
          </a:p>
        </p:txBody>
      </p:sp>
      <p:sp>
        <p:nvSpPr>
          <p:cNvPr id="6" name="t-18"/>
          <p:cNvSpPr txBox="1"/>
          <p:nvPr/>
        </p:nvSpPr>
        <p:spPr>
          <a:xfrm>
            <a:off x="178308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14"/>
                </a:solidFill>
              </a:rPr>
              <a:t>Kitchens are physical spaces</a:t>
            </a:r>
            <a:endParaRPr lang="en-US" sz="2000" dirty="0"/>
          </a:p>
        </p:txBody>
      </p:sp>
      <p:sp>
        <p:nvSpPr>
          <p:cNvPr id="7" name="t-19"/>
          <p:cNvSpPr txBox="1"/>
          <p:nvPr/>
        </p:nvSpPr>
        <p:spPr>
          <a:xfrm>
            <a:off x="1783080" y="2331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A 3D fridge you can look into beats a scrolling list.</a:t>
            </a:r>
            <a:endParaRPr lang="en-US" sz="1600" dirty="0"/>
          </a:p>
        </p:txBody>
      </p:sp>
      <p:sp>
        <p:nvSpPr>
          <p:cNvPr id="8" name="card-20"/>
          <p:cNvSpPr/>
          <p:nvPr/>
        </p:nvSpPr>
        <p:spPr>
          <a:xfrm>
            <a:off x="6172200" y="1463040"/>
            <a:ext cx="5440680" cy="2103120"/>
          </a:xfrm>
          <a:prstGeom prst="roundRect">
            <a:avLst>
              <a:gd name="adj" fmla="val 7826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9" name="icon-bg-21"/>
          <p:cNvSpPr/>
          <p:nvPr/>
        </p:nvSpPr>
        <p:spPr>
          <a:xfrm>
            <a:off x="6492240" y="1783080"/>
            <a:ext cx="685800" cy="685800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10" name="icon-21"/>
          <p:cNvSpPr txBox="1"/>
          <p:nvPr/>
        </p:nvSpPr>
        <p:spPr>
          <a:xfrm>
            <a:off x="649224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</a:rPr>
              <a:t>👀</a:t>
            </a:r>
            <a:endParaRPr lang="en-US" sz="1950" dirty="0"/>
          </a:p>
        </p:txBody>
      </p:sp>
      <p:sp>
        <p:nvSpPr>
          <p:cNvPr id="11" name="t-22"/>
          <p:cNvSpPr txBox="1"/>
          <p:nvPr/>
        </p:nvSpPr>
        <p:spPr>
          <a:xfrm>
            <a:off x="740664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14"/>
                </a:solidFill>
              </a:rPr>
              <a:t>Glanceable urgency</a:t>
            </a:r>
            <a:endParaRPr lang="en-US" sz="2000" dirty="0"/>
          </a:p>
        </p:txBody>
      </p:sp>
      <p:sp>
        <p:nvSpPr>
          <p:cNvPr id="12" name="t-23"/>
          <p:cNvSpPr txBox="1"/>
          <p:nvPr/>
        </p:nvSpPr>
        <p:spPr>
          <a:xfrm>
            <a:off x="7406640" y="2331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Colour and distance show what expires first — no reading needed.</a:t>
            </a:r>
            <a:endParaRPr lang="en-US" sz="1600" dirty="0"/>
          </a:p>
        </p:txBody>
      </p:sp>
      <p:sp>
        <p:nvSpPr>
          <p:cNvPr id="13" name="card-24"/>
          <p:cNvSpPr/>
          <p:nvPr/>
        </p:nvSpPr>
        <p:spPr>
          <a:xfrm>
            <a:off x="548640" y="3794760"/>
            <a:ext cx="5440680" cy="2103120"/>
          </a:xfrm>
          <a:prstGeom prst="roundRect">
            <a:avLst>
              <a:gd name="adj" fmla="val 7826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4" name="icon-bg-25"/>
          <p:cNvSpPr/>
          <p:nvPr/>
        </p:nvSpPr>
        <p:spPr>
          <a:xfrm>
            <a:off x="868680" y="4114800"/>
            <a:ext cx="685800" cy="685800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15" name="icon-25"/>
          <p:cNvSpPr txBox="1"/>
          <p:nvPr/>
        </p:nvSpPr>
        <p:spPr>
          <a:xfrm>
            <a:off x="868680" y="4114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</a:rPr>
              <a:t>🙌</a:t>
            </a:r>
            <a:endParaRPr lang="en-US" sz="1950" dirty="0"/>
          </a:p>
        </p:txBody>
      </p:sp>
      <p:sp>
        <p:nvSpPr>
          <p:cNvPr id="16" name="t-26"/>
          <p:cNvSpPr txBox="1"/>
          <p:nvPr/>
        </p:nvSpPr>
        <p:spPr>
          <a:xfrm>
            <a:off x="178308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14"/>
                </a:solidFill>
              </a:rPr>
              <a:t>Hands-free while cooking</a:t>
            </a:r>
            <a:endParaRPr lang="en-US" sz="2000" dirty="0"/>
          </a:p>
        </p:txBody>
      </p:sp>
      <p:sp>
        <p:nvSpPr>
          <p:cNvPr id="17" name="t-27"/>
          <p:cNvSpPr txBox="1"/>
          <p:nvPr/>
        </p:nvSpPr>
        <p:spPr>
          <a:xfrm>
            <a:off x="1783080" y="46634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Look and pinch with messy hands; no phone to unlock.</a:t>
            </a:r>
            <a:endParaRPr lang="en-US" sz="1600" dirty="0"/>
          </a:p>
        </p:txBody>
      </p:sp>
      <p:sp>
        <p:nvSpPr>
          <p:cNvPr id="18" name="card-28"/>
          <p:cNvSpPr/>
          <p:nvPr/>
        </p:nvSpPr>
        <p:spPr>
          <a:xfrm>
            <a:off x="6172200" y="3794760"/>
            <a:ext cx="5440680" cy="2103120"/>
          </a:xfrm>
          <a:prstGeom prst="roundRect">
            <a:avLst>
              <a:gd name="adj" fmla="val 7826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9" name="icon-bg-29"/>
          <p:cNvSpPr/>
          <p:nvPr/>
        </p:nvSpPr>
        <p:spPr>
          <a:xfrm>
            <a:off x="6492240" y="4114800"/>
            <a:ext cx="685800" cy="685800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20" name="icon-29"/>
          <p:cNvSpPr txBox="1"/>
          <p:nvPr/>
        </p:nvSpPr>
        <p:spPr>
          <a:xfrm>
            <a:off x="6492240" y="4114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</a:rPr>
              <a:t>🏠</a:t>
            </a:r>
            <a:endParaRPr lang="en-US" sz="1950" dirty="0"/>
          </a:p>
        </p:txBody>
      </p:sp>
      <p:sp>
        <p:nvSpPr>
          <p:cNvPr id="21" name="t-30"/>
          <p:cNvSpPr txBox="1"/>
          <p:nvPr/>
        </p:nvSpPr>
        <p:spPr>
          <a:xfrm>
            <a:off x="740664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14"/>
                </a:solidFill>
              </a:rPr>
              <a:t>Made for the home</a:t>
            </a:r>
            <a:endParaRPr lang="en-US" sz="2000" dirty="0"/>
          </a:p>
        </p:txBody>
      </p:sp>
      <p:sp>
        <p:nvSpPr>
          <p:cNvPr id="22" name="t-31"/>
          <p:cNvSpPr txBox="1"/>
          <p:nvPr/>
        </p:nvSpPr>
        <p:spPr>
          <a:xfrm>
            <a:off x="7406640" y="46634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Vision Pro is used at home, where the food decisions happen.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Three spatial experiences</a:t>
            </a:r>
            <a:endParaRPr lang="en-US" sz="3600" dirty="0"/>
          </a:p>
        </p:txBody>
      </p:sp>
      <p:sp>
        <p:nvSpPr>
          <p:cNvPr id="3" name="card-32"/>
          <p:cNvSpPr/>
          <p:nvPr/>
        </p:nvSpPr>
        <p:spPr>
          <a:xfrm>
            <a:off x="548640" y="1463040"/>
            <a:ext cx="3566160" cy="4480560"/>
          </a:xfrm>
          <a:prstGeom prst="roundRect">
            <a:avLst>
              <a:gd name="adj" fmla="val 4615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4" name="icon-bg-33"/>
          <p:cNvSpPr/>
          <p:nvPr/>
        </p:nvSpPr>
        <p:spPr>
          <a:xfrm>
            <a:off x="868680" y="1783080"/>
            <a:ext cx="868680" cy="868680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5" name="icon-33"/>
          <p:cNvSpPr txBox="1"/>
          <p:nvPr/>
        </p:nvSpPr>
        <p:spPr>
          <a:xfrm>
            <a:off x="868680" y="1783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</a:rPr>
              <a:t>🪟</a:t>
            </a:r>
            <a:endParaRPr lang="en-US" sz="2470" dirty="0"/>
          </a:p>
        </p:txBody>
      </p:sp>
      <p:sp>
        <p:nvSpPr>
          <p:cNvPr id="6" name="t-34"/>
          <p:cNvSpPr txBox="1"/>
          <p:nvPr/>
        </p:nvSpPr>
        <p:spPr>
          <a:xfrm>
            <a:off x="86868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814"/>
                </a:solidFill>
              </a:rPr>
              <a:t>Glass window</a:t>
            </a:r>
            <a:endParaRPr lang="en-US" sz="2100" dirty="0"/>
          </a:p>
        </p:txBody>
      </p:sp>
      <p:sp>
        <p:nvSpPr>
          <p:cNvPr id="7" name="t-35"/>
          <p:cNvSpPr txBox="1"/>
          <p:nvPr/>
        </p:nvSpPr>
        <p:spPr>
          <a:xfrm>
            <a:off x="868680" y="37490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Pantry grouped by urgency, item details and recipe ideas. Ornament launches the spatial modes.</a:t>
            </a:r>
            <a:endParaRPr lang="en-US" sz="1600" dirty="0"/>
          </a:p>
        </p:txBody>
      </p:sp>
      <p:sp>
        <p:nvSpPr>
          <p:cNvPr id="8" name="card-36"/>
          <p:cNvSpPr/>
          <p:nvPr/>
        </p:nvSpPr>
        <p:spPr>
          <a:xfrm>
            <a:off x="4297680" y="1463040"/>
            <a:ext cx="3566160" cy="4480560"/>
          </a:xfrm>
          <a:prstGeom prst="roundRect">
            <a:avLst>
              <a:gd name="adj" fmla="val 4615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9" name="icon-bg-37"/>
          <p:cNvSpPr/>
          <p:nvPr/>
        </p:nvSpPr>
        <p:spPr>
          <a:xfrm>
            <a:off x="4617720" y="1783080"/>
            <a:ext cx="868680" cy="86868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0" name="icon-37"/>
          <p:cNvSpPr txBox="1"/>
          <p:nvPr/>
        </p:nvSpPr>
        <p:spPr>
          <a:xfrm>
            <a:off x="4617720" y="1783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</a:rPr>
              <a:t>🧊</a:t>
            </a:r>
            <a:endParaRPr lang="en-US" sz="2470" dirty="0"/>
          </a:p>
        </p:txBody>
      </p:sp>
      <p:sp>
        <p:nvSpPr>
          <p:cNvPr id="11" name="t-38"/>
          <p:cNvSpPr txBox="1"/>
          <p:nvPr/>
        </p:nvSpPr>
        <p:spPr>
          <a:xfrm>
            <a:off x="461772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814"/>
                </a:solidFill>
              </a:rPr>
              <a:t>3D virtual fridge (volume)</a:t>
            </a:r>
            <a:endParaRPr lang="en-US" sz="2100" dirty="0"/>
          </a:p>
        </p:txBody>
      </p:sp>
      <p:sp>
        <p:nvSpPr>
          <p:cNvPr id="12" name="t-39"/>
          <p:cNvSpPr txBox="1"/>
          <p:nvPr/>
        </p:nvSpPr>
        <p:spPr>
          <a:xfrm>
            <a:off x="4617720" y="37490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Shelves for fridge, counter, pantry and freezer. Items are tokens coloured by freshness. Pinch to inspect; drag into the pot to cook.</a:t>
            </a:r>
            <a:endParaRPr lang="en-US" sz="1600" dirty="0"/>
          </a:p>
        </p:txBody>
      </p:sp>
      <p:sp>
        <p:nvSpPr>
          <p:cNvPr id="13" name="card-40"/>
          <p:cNvSpPr/>
          <p:nvPr/>
        </p:nvSpPr>
        <p:spPr>
          <a:xfrm>
            <a:off x="8046720" y="1463040"/>
            <a:ext cx="3566160" cy="4480560"/>
          </a:xfrm>
          <a:prstGeom prst="roundRect">
            <a:avLst>
              <a:gd name="adj" fmla="val 4615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4" name="icon-bg-41"/>
          <p:cNvSpPr/>
          <p:nvPr/>
        </p:nvSpPr>
        <p:spPr>
          <a:xfrm>
            <a:off x="8366760" y="1783080"/>
            <a:ext cx="868680" cy="868680"/>
          </a:xfrm>
          <a:prstGeom prst="ellipse">
            <a:avLst/>
          </a:prstGeom>
          <a:solidFill>
            <a:srgbClr val="EF6C2F"/>
          </a:solidFill>
          <a:ln w="12700">
            <a:solidFill>
              <a:srgbClr val="EF6C2F"/>
            </a:solidFill>
            <a:prstDash val="solid"/>
          </a:ln>
        </p:spPr>
      </p:sp>
      <p:sp>
        <p:nvSpPr>
          <p:cNvPr id="15" name="icon-41"/>
          <p:cNvSpPr txBox="1"/>
          <p:nvPr/>
        </p:nvSpPr>
        <p:spPr>
          <a:xfrm>
            <a:off x="8366760" y="17830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70" dirty="0">
                <a:solidFill>
                  <a:srgbClr val="000000"/>
                </a:solidFill>
              </a:rPr>
              <a:t>🕰️</a:t>
            </a:r>
            <a:endParaRPr lang="en-US" sz="2470" dirty="0"/>
          </a:p>
        </p:txBody>
      </p:sp>
      <p:sp>
        <p:nvSpPr>
          <p:cNvPr id="16" name="t-42"/>
          <p:cNvSpPr txBox="1"/>
          <p:nvPr/>
        </p:nvSpPr>
        <p:spPr>
          <a:xfrm>
            <a:off x="836676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11814"/>
                </a:solidFill>
              </a:rPr>
              <a:t>Expiry timeline (immersive)</a:t>
            </a:r>
            <a:endParaRPr lang="en-US" sz="2100" dirty="0"/>
          </a:p>
        </p:txBody>
      </p:sp>
      <p:sp>
        <p:nvSpPr>
          <p:cNvPr id="17" name="t-43"/>
          <p:cNvSpPr txBox="1"/>
          <p:nvPr/>
        </p:nvSpPr>
        <p:spPr>
          <a:xfrm>
            <a:off x="8366760" y="37490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Food floats on an arc around you in your real kitchen — the closer it is, the sooner it expires.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Working prototype on visionOS</a:t>
            </a:r>
            <a:endParaRPr lang="en-US" sz="3600" dirty="0"/>
          </a:p>
        </p:txBody>
      </p:sp>
      <p:pic>
        <p:nvPicPr>
          <p:cNvPr id="3" name="img-44" descr="C:\Users\srith\Projects\SE4041-FreshKeep\docs\images\visionos-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040880" cy="4608576"/>
          </a:xfrm>
          <a:prstGeom prst="rect">
            <a:avLst/>
          </a:prstGeom>
        </p:spPr>
      </p:pic>
      <p:sp>
        <p:nvSpPr>
          <p:cNvPr id="4" name="t-45"/>
          <p:cNvSpPr txBox="1"/>
          <p:nvPr/>
        </p:nvSpPr>
        <p:spPr>
          <a:xfrm>
            <a:off x="786384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6B47"/>
                </a:solidFill>
              </a:rPr>
              <a:t>RealityKit volume</a:t>
            </a:r>
            <a:endParaRPr lang="en-US" sz="1800" dirty="0"/>
          </a:p>
        </p:txBody>
      </p:sp>
      <p:sp>
        <p:nvSpPr>
          <p:cNvPr id="5" name="t-46"/>
          <p:cNvSpPr txBox="1"/>
          <p:nvPr/>
        </p:nvSpPr>
        <p:spPr>
          <a:xfrm>
            <a:off x="7863840" y="1828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4"/>
                </a:solidFill>
              </a:rPr>
              <a:t>generated 3D shelves, tokens and pot — no asset files</a:t>
            </a:r>
            <a:endParaRPr lang="en-US" sz="1400" dirty="0"/>
          </a:p>
        </p:txBody>
      </p:sp>
      <p:sp>
        <p:nvSpPr>
          <p:cNvPr id="6" name="t-47"/>
          <p:cNvSpPr txBox="1"/>
          <p:nvPr/>
        </p:nvSpPr>
        <p:spPr>
          <a:xfrm>
            <a:off x="7863840" y="23957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6B47"/>
                </a:solidFill>
              </a:rPr>
              <a:t>Spatial gestures</a:t>
            </a:r>
            <a:endParaRPr lang="en-US" sz="1800" dirty="0"/>
          </a:p>
        </p:txBody>
      </p:sp>
      <p:sp>
        <p:nvSpPr>
          <p:cNvPr id="7" name="t-48"/>
          <p:cNvSpPr txBox="1"/>
          <p:nvPr/>
        </p:nvSpPr>
        <p:spPr>
          <a:xfrm>
            <a:off x="7863840" y="27614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4"/>
                </a:solidFill>
              </a:rPr>
              <a:t>SpatialTapGesture + DragGesture targeted to entities</a:t>
            </a:r>
            <a:endParaRPr lang="en-US" sz="1400" dirty="0"/>
          </a:p>
        </p:txBody>
      </p:sp>
      <p:sp>
        <p:nvSpPr>
          <p:cNvPr id="8" name="t-49"/>
          <p:cNvSpPr txBox="1"/>
          <p:nvPr/>
        </p:nvSpPr>
        <p:spPr>
          <a:xfrm>
            <a:off x="7863840" y="33284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6B47"/>
                </a:solidFill>
              </a:rPr>
              <a:t>Attachments</a:t>
            </a:r>
            <a:endParaRPr lang="en-US" sz="1800" dirty="0"/>
          </a:p>
        </p:txBody>
      </p:sp>
      <p:sp>
        <p:nvSpPr>
          <p:cNvPr id="9" name="t-50"/>
          <p:cNvSpPr txBox="1"/>
          <p:nvPr/>
        </p:nvSpPr>
        <p:spPr>
          <a:xfrm>
            <a:off x="7863840" y="36941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4"/>
                </a:solidFill>
              </a:rPr>
              <a:t>SwiftUI glass cards floating above 3D items</a:t>
            </a:r>
            <a:endParaRPr lang="en-US" sz="1400" dirty="0"/>
          </a:p>
        </p:txBody>
      </p:sp>
      <p:sp>
        <p:nvSpPr>
          <p:cNvPr id="10" name="t-51"/>
          <p:cNvSpPr txBox="1"/>
          <p:nvPr/>
        </p:nvSpPr>
        <p:spPr>
          <a:xfrm>
            <a:off x="7863840" y="42611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6B47"/>
                </a:solidFill>
              </a:rPr>
              <a:t>Shared data</a:t>
            </a:r>
            <a:endParaRPr lang="en-US" sz="1800" dirty="0"/>
          </a:p>
        </p:txBody>
      </p:sp>
      <p:sp>
        <p:nvSpPr>
          <p:cNvPr id="11" name="t-52"/>
          <p:cNvSpPr txBox="1"/>
          <p:nvPr/>
        </p:nvSpPr>
        <p:spPr>
          <a:xfrm>
            <a:off x="7863840" y="46268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4"/>
                </a:solidFill>
              </a:rPr>
              <a:t>same SwiftData model + FreshKeepCore package as iOS</a:t>
            </a:r>
            <a:endParaRPr lang="en-US" sz="1400" dirty="0"/>
          </a:p>
        </p:txBody>
      </p:sp>
      <p:sp>
        <p:nvSpPr>
          <p:cNvPr id="12" name="t-53"/>
          <p:cNvSpPr txBox="1"/>
          <p:nvPr/>
        </p:nvSpPr>
        <p:spPr>
          <a:xfrm>
            <a:off x="7863840" y="51937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6B47"/>
                </a:solidFill>
              </a:rPr>
              <a:t>Verified in CI</a:t>
            </a:r>
            <a:endParaRPr lang="en-US" sz="1800" dirty="0"/>
          </a:p>
        </p:txBody>
      </p:sp>
      <p:sp>
        <p:nvSpPr>
          <p:cNvPr id="13" name="t-54"/>
          <p:cNvSpPr txBox="1"/>
          <p:nvPr/>
        </p:nvSpPr>
        <p:spPr>
          <a:xfrm>
            <a:off x="7863840" y="55595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4"/>
                </a:solidFill>
              </a:rPr>
              <a:t>built and launched in the Vision Pro simulator on every push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Designed for eyes and hands</a:t>
            </a:r>
            <a:endParaRPr lang="en-US" sz="3600" dirty="0"/>
          </a:p>
        </p:txBody>
      </p:sp>
      <p:sp>
        <p:nvSpPr>
          <p:cNvPr id="3" name="icon-bg-55"/>
          <p:cNvSpPr/>
          <p:nvPr/>
        </p:nvSpPr>
        <p:spPr>
          <a:xfrm>
            <a:off x="548640" y="1417320"/>
            <a:ext cx="731520" cy="731520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4" name="icon-55"/>
          <p:cNvSpPr txBox="1"/>
          <p:nvPr/>
        </p:nvSpPr>
        <p:spPr>
          <a:xfrm>
            <a:off x="54864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00000"/>
                </a:solidFill>
              </a:rPr>
              <a:t>👁️</a:t>
            </a:r>
            <a:endParaRPr lang="en-US" sz="2080" dirty="0"/>
          </a:p>
        </p:txBody>
      </p:sp>
      <p:sp>
        <p:nvSpPr>
          <p:cNvPr id="5" name="t-56"/>
          <p:cNvSpPr txBox="1"/>
          <p:nvPr/>
        </p:nvSpPr>
        <p:spPr>
          <a:xfrm>
            <a:off x="150876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14"/>
                </a:solidFill>
              </a:rPr>
              <a:t>Look + pinch</a:t>
            </a:r>
            <a:endParaRPr lang="en-US" sz="2000" dirty="0"/>
          </a:p>
        </p:txBody>
      </p:sp>
      <p:sp>
        <p:nvSpPr>
          <p:cNvPr id="6" name="t-57"/>
          <p:cNvSpPr txBox="1"/>
          <p:nvPr/>
        </p:nvSpPr>
        <p:spPr>
          <a:xfrm>
            <a:off x="4297680" y="1463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Select an item; hover highlight shows what you are looking at</a:t>
            </a:r>
            <a:endParaRPr lang="en-US" sz="1600" dirty="0"/>
          </a:p>
        </p:txBody>
      </p:sp>
      <p:sp>
        <p:nvSpPr>
          <p:cNvPr id="7" name="icon-bg-58"/>
          <p:cNvSpPr/>
          <p:nvPr/>
        </p:nvSpPr>
        <p:spPr>
          <a:xfrm>
            <a:off x="548640" y="2377440"/>
            <a:ext cx="731520" cy="7315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8" name="icon-58"/>
          <p:cNvSpPr txBox="1"/>
          <p:nvPr/>
        </p:nvSpPr>
        <p:spPr>
          <a:xfrm>
            <a:off x="54864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00000"/>
                </a:solidFill>
              </a:rPr>
              <a:t>🤏</a:t>
            </a:r>
            <a:endParaRPr lang="en-US" sz="2080" dirty="0"/>
          </a:p>
        </p:txBody>
      </p:sp>
      <p:sp>
        <p:nvSpPr>
          <p:cNvPr id="9" name="t-59"/>
          <p:cNvSpPr txBox="1"/>
          <p:nvPr/>
        </p:nvSpPr>
        <p:spPr>
          <a:xfrm>
            <a:off x="1508760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14"/>
                </a:solidFill>
              </a:rPr>
              <a:t>Pinch + drag</a:t>
            </a:r>
            <a:endParaRPr lang="en-US" sz="2000" dirty="0"/>
          </a:p>
        </p:txBody>
      </p:sp>
      <p:sp>
        <p:nvSpPr>
          <p:cNvPr id="10" name="t-60"/>
          <p:cNvSpPr txBox="1"/>
          <p:nvPr/>
        </p:nvSpPr>
        <p:spPr>
          <a:xfrm>
            <a:off x="4297680" y="2423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Pick food up and drop it into the Cook-now pot to log it as eaten</a:t>
            </a:r>
            <a:endParaRPr lang="en-US" sz="1600" dirty="0"/>
          </a:p>
        </p:txBody>
      </p:sp>
      <p:sp>
        <p:nvSpPr>
          <p:cNvPr id="11" name="icon-bg-61"/>
          <p:cNvSpPr/>
          <p:nvPr/>
        </p:nvSpPr>
        <p:spPr>
          <a:xfrm>
            <a:off x="548640" y="3337560"/>
            <a:ext cx="731520" cy="731520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12" name="icon-61"/>
          <p:cNvSpPr txBox="1"/>
          <p:nvPr/>
        </p:nvSpPr>
        <p:spPr>
          <a:xfrm>
            <a:off x="54864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00000"/>
                </a:solidFill>
              </a:rPr>
              <a:t>🧭</a:t>
            </a:r>
            <a:endParaRPr lang="en-US" sz="2080" dirty="0"/>
          </a:p>
        </p:txBody>
      </p:sp>
      <p:sp>
        <p:nvSpPr>
          <p:cNvPr id="13" name="t-62"/>
          <p:cNvSpPr txBox="1"/>
          <p:nvPr/>
        </p:nvSpPr>
        <p:spPr>
          <a:xfrm>
            <a:off x="150876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14"/>
                </a:solidFill>
              </a:rPr>
              <a:t>Ornaments</a:t>
            </a:r>
            <a:endParaRPr lang="en-US" sz="2000" dirty="0"/>
          </a:p>
        </p:txBody>
      </p:sp>
      <p:sp>
        <p:nvSpPr>
          <p:cNvPr id="14" name="t-63"/>
          <p:cNvSpPr txBox="1"/>
          <p:nvPr/>
        </p:nvSpPr>
        <p:spPr>
          <a:xfrm>
            <a:off x="4297680" y="3383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Primary actions float below the window, following Apple HIG</a:t>
            </a:r>
            <a:endParaRPr lang="en-US" sz="1600" dirty="0"/>
          </a:p>
        </p:txBody>
      </p:sp>
      <p:sp>
        <p:nvSpPr>
          <p:cNvPr id="15" name="icon-bg-64"/>
          <p:cNvSpPr/>
          <p:nvPr/>
        </p:nvSpPr>
        <p:spPr>
          <a:xfrm>
            <a:off x="548640" y="4297680"/>
            <a:ext cx="731520" cy="7315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6" name="icon-64"/>
          <p:cNvSpPr txBox="1"/>
          <p:nvPr/>
        </p:nvSpPr>
        <p:spPr>
          <a:xfrm>
            <a:off x="54864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00000"/>
                </a:solidFill>
              </a:rPr>
              <a:t>🔮</a:t>
            </a:r>
            <a:endParaRPr lang="en-US" sz="2080" dirty="0"/>
          </a:p>
        </p:txBody>
      </p:sp>
      <p:sp>
        <p:nvSpPr>
          <p:cNvPr id="17" name="t-65"/>
          <p:cNvSpPr txBox="1"/>
          <p:nvPr/>
        </p:nvSpPr>
        <p:spPr>
          <a:xfrm>
            <a:off x="1508760" y="4343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14"/>
                </a:solidFill>
              </a:rPr>
              <a:t>Glass &amp; depth</a:t>
            </a:r>
            <a:endParaRPr lang="en-US" sz="2000" dirty="0"/>
          </a:p>
        </p:txBody>
      </p:sp>
      <p:sp>
        <p:nvSpPr>
          <p:cNvPr id="18" name="t-66"/>
          <p:cNvSpPr txBox="1"/>
          <p:nvPr/>
        </p:nvSpPr>
        <p:spPr>
          <a:xfrm>
            <a:off x="4297680" y="4343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System glass materials keep the room visible and comfortable</a:t>
            </a:r>
            <a:endParaRPr lang="en-US" sz="1600" dirty="0"/>
          </a:p>
        </p:txBody>
      </p:sp>
      <p:sp>
        <p:nvSpPr>
          <p:cNvPr id="19" name="icon-bg-67"/>
          <p:cNvSpPr/>
          <p:nvPr/>
        </p:nvSpPr>
        <p:spPr>
          <a:xfrm>
            <a:off x="548640" y="5257800"/>
            <a:ext cx="731520" cy="731520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20" name="icon-67"/>
          <p:cNvSpPr txBox="1"/>
          <p:nvPr/>
        </p:nvSpPr>
        <p:spPr>
          <a:xfrm>
            <a:off x="548640" y="5257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00000"/>
                </a:solidFill>
              </a:rPr>
              <a:t>🧘</a:t>
            </a:r>
            <a:endParaRPr lang="en-US" sz="2080" dirty="0"/>
          </a:p>
        </p:txBody>
      </p:sp>
      <p:sp>
        <p:nvSpPr>
          <p:cNvPr id="21" name="t-68"/>
          <p:cNvSpPr txBox="1"/>
          <p:nvPr/>
        </p:nvSpPr>
        <p:spPr>
          <a:xfrm>
            <a:off x="1508760" y="5303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14"/>
                </a:solidFill>
              </a:rPr>
              <a:t>Comfort</a:t>
            </a:r>
            <a:endParaRPr lang="en-US" sz="2000" dirty="0"/>
          </a:p>
        </p:txBody>
      </p:sp>
      <p:sp>
        <p:nvSpPr>
          <p:cNvPr id="22" name="t-69"/>
          <p:cNvSpPr txBox="1"/>
          <p:nvPr/>
        </p:nvSpPr>
        <p:spPr>
          <a:xfrm>
            <a:off x="4297680" y="5303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Content at 0.8 – 2.2 m, mixed immersion, no forced motion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Existing apps solve only part of it</a:t>
            </a:r>
            <a:endParaRPr lang="en-US" sz="3600" dirty="0"/>
          </a:p>
        </p:txBody>
      </p:sp>
      <p:graphicFrame>
        <p:nvGraphicFramePr>
          <p:cNvPr id="8" name="competi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3657600"/>
                <a:gridCol w="32004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4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Crouton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iOS, visionOS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Recipe manager and cooking mode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No pantry or expiry awareness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Lowe's Style Studio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visionOS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Design a kitchen spatially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Kitchen layout, not food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Smart fridges with cameras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Appliance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Look inside the fridge remotely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Expensive hardware; fridge only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NoWaste / Fridgely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iOS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Manual inventory and expiry lists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Typing; not spatial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6B47"/>
                          </a:solidFill>
                        </a:rPr>
                        <a:t>FreshKeep Spatial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iOS + visionOS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14"/>
                          </a:solidFill>
                        </a:rPr>
                        <a:t>AI capture on iPhone, 3D pantry &amp; timeline on Vision Pro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6B47"/>
                          </a:solidFill>
                        </a:rPr>
                        <a:t>Whole kitchen, urgency-first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Who it is for</a:t>
            </a:r>
            <a:endParaRPr lang="en-US" sz="3600" dirty="0"/>
          </a:p>
        </p:txBody>
      </p:sp>
      <p:sp>
        <p:nvSpPr>
          <p:cNvPr id="3" name="ring-70"/>
          <p:cNvSpPr/>
          <p:nvPr/>
        </p:nvSpPr>
        <p:spPr>
          <a:xfrm>
            <a:off x="914400" y="1554480"/>
            <a:ext cx="4937760" cy="4937760"/>
          </a:xfrm>
          <a:prstGeom prst="ellipse">
            <a:avLst/>
          </a:prstGeom>
          <a:solidFill>
            <a:srgbClr val="A7DC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ring-71"/>
          <p:cNvSpPr/>
          <p:nvPr/>
        </p:nvSpPr>
        <p:spPr>
          <a:xfrm>
            <a:off x="1554480" y="2194560"/>
            <a:ext cx="3657600" cy="3657600"/>
          </a:xfrm>
          <a:prstGeom prst="ellipse">
            <a:avLst/>
          </a:prstGeom>
          <a:solidFill>
            <a:srgbClr val="2BAE6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ring-72"/>
          <p:cNvSpPr/>
          <p:nvPr/>
        </p:nvSpPr>
        <p:spPr>
          <a:xfrm>
            <a:off x="2194560" y="2834640"/>
            <a:ext cx="2377440" cy="2377440"/>
          </a:xfrm>
          <a:prstGeom prst="ellipse">
            <a:avLst/>
          </a:prstGeom>
          <a:solidFill>
            <a:srgbClr val="0F6B4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-73"/>
          <p:cNvSpPr txBox="1"/>
          <p:nvPr/>
        </p:nvSpPr>
        <p:spPr>
          <a:xfrm>
            <a:off x="201168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Beachhead</a:t>
            </a:r>
            <a:endParaRPr lang="en-US" sz="1800" dirty="0"/>
          </a:p>
        </p:txBody>
      </p:sp>
      <p:sp>
        <p:nvSpPr>
          <p:cNvPr id="7" name="t-74"/>
          <p:cNvSpPr txBox="1"/>
          <p:nvPr/>
        </p:nvSpPr>
        <p:spPr>
          <a:xfrm>
            <a:off x="201168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Expansion</a:t>
            </a:r>
            <a:endParaRPr lang="en-US" sz="1600" dirty="0"/>
          </a:p>
        </p:txBody>
      </p:sp>
      <p:sp>
        <p:nvSpPr>
          <p:cNvPr id="8" name="t-75"/>
          <p:cNvSpPr txBox="1"/>
          <p:nvPr/>
        </p:nvSpPr>
        <p:spPr>
          <a:xfrm>
            <a:off x="201168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B47"/>
                </a:solidFill>
              </a:rPr>
              <a:t>Long term</a:t>
            </a:r>
            <a:endParaRPr lang="en-US" sz="1500" dirty="0"/>
          </a:p>
        </p:txBody>
      </p:sp>
      <p:sp>
        <p:nvSpPr>
          <p:cNvPr id="9" name="t-76"/>
          <p:cNvSpPr txBox="1"/>
          <p:nvPr/>
        </p:nvSpPr>
        <p:spPr>
          <a:xfrm>
            <a:off x="6949440" y="1554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6B47"/>
                </a:solidFill>
              </a:rPr>
              <a:t>Beachhead</a:t>
            </a:r>
            <a:endParaRPr lang="en-US" sz="2000" dirty="0"/>
          </a:p>
        </p:txBody>
      </p:sp>
      <p:sp>
        <p:nvSpPr>
          <p:cNvPr id="10" name="t-77"/>
          <p:cNvSpPr txBox="1"/>
          <p:nvPr/>
        </p:nvSpPr>
        <p:spPr>
          <a:xfrm>
            <a:off x="6949440" y="20116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FreshKeep iPhone users who own an Apple Vision Pro — early adopters, home cooks</a:t>
            </a:r>
            <a:endParaRPr lang="en-US" sz="1600" dirty="0"/>
          </a:p>
        </p:txBody>
      </p:sp>
      <p:sp>
        <p:nvSpPr>
          <p:cNvPr id="11" name="t-78"/>
          <p:cNvSpPr txBox="1"/>
          <p:nvPr/>
        </p:nvSpPr>
        <p:spPr>
          <a:xfrm>
            <a:off x="6949440" y="3017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6B47"/>
                </a:solidFill>
              </a:rPr>
              <a:t>Expansion</a:t>
            </a:r>
            <a:endParaRPr lang="en-US" sz="2000" dirty="0"/>
          </a:p>
        </p:txBody>
      </p:sp>
      <p:sp>
        <p:nvSpPr>
          <p:cNvPr id="12" name="t-79"/>
          <p:cNvSpPr txBox="1"/>
          <p:nvPr/>
        </p:nvSpPr>
        <p:spPr>
          <a:xfrm>
            <a:off x="6949440" y="3474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All Vision Pro households; families who share a kitchen</a:t>
            </a:r>
            <a:endParaRPr lang="en-US" sz="1600" dirty="0"/>
          </a:p>
        </p:txBody>
      </p:sp>
      <p:sp>
        <p:nvSpPr>
          <p:cNvPr id="13" name="t-80"/>
          <p:cNvSpPr txBox="1"/>
          <p:nvPr/>
        </p:nvSpPr>
        <p:spPr>
          <a:xfrm>
            <a:off x="6949440" y="4480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6B47"/>
                </a:solidFill>
              </a:rPr>
              <a:t>Long term</a:t>
            </a:r>
            <a:endParaRPr lang="en-US" sz="2000" dirty="0"/>
          </a:p>
        </p:txBody>
      </p:sp>
      <p:sp>
        <p:nvSpPr>
          <p:cNvPr id="14" name="t-81"/>
          <p:cNvSpPr txBox="1"/>
          <p:nvPr/>
        </p:nvSpPr>
        <p:spPr>
          <a:xfrm>
            <a:off x="6949440" y="4937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B64"/>
                </a:solidFill>
              </a:rPr>
              <a:t>Lighter, cheaper headsets and smart-home partners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Revenue model: freemium + partnerships</a:t>
            </a:r>
            <a:endParaRPr lang="en-US" sz="3600" dirty="0"/>
          </a:p>
        </p:txBody>
      </p:sp>
      <p:sp>
        <p:nvSpPr>
          <p:cNvPr id="3" name="card-82"/>
          <p:cNvSpPr/>
          <p:nvPr/>
        </p:nvSpPr>
        <p:spPr>
          <a:xfrm>
            <a:off x="548640" y="1463040"/>
            <a:ext cx="3566160" cy="4480560"/>
          </a:xfrm>
          <a:prstGeom prst="roundRect">
            <a:avLst>
              <a:gd name="adj" fmla="val 4615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4" name="t-83"/>
          <p:cNvSpPr txBox="1"/>
          <p:nvPr/>
        </p:nvSpPr>
        <p:spPr>
          <a:xfrm>
            <a:off x="86868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814"/>
                </a:solidFill>
              </a:rPr>
              <a:t>Free</a:t>
            </a:r>
            <a:endParaRPr lang="en-US" sz="2600" dirty="0"/>
          </a:p>
        </p:txBody>
      </p:sp>
      <p:sp>
        <p:nvSpPr>
          <p:cNvPr id="5" name="t-84"/>
          <p:cNvSpPr txBox="1"/>
          <p:nvPr/>
        </p:nvSpPr>
        <p:spPr>
          <a:xfrm>
            <a:off x="868680" y="2331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4"/>
                </a:solidFill>
              </a:rPr>
              <a:t>iPhone app</a:t>
            </a:r>
            <a:endParaRPr lang="en-US" sz="1400" dirty="0"/>
          </a:p>
        </p:txBody>
      </p:sp>
      <p:sp>
        <p:nvSpPr>
          <p:cNvPr id="6" name="tier-0"/>
          <p:cNvSpPr txBox="1"/>
          <p:nvPr/>
        </p:nvSpPr>
        <p:spPr>
          <a:xfrm>
            <a:off x="868680" y="320040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14"/>
                </a:solidFill>
              </a:rPr>
              <a:t>Scan food &amp; labels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14"/>
                </a:solidFill>
              </a:rPr>
              <a:t>Reminders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14"/>
                </a:solidFill>
              </a:rPr>
              <a:t>Insights</a:t>
            </a:r>
            <a:endParaRPr lang="en-US" sz="1600" dirty="0"/>
          </a:p>
        </p:txBody>
      </p:sp>
      <p:sp>
        <p:nvSpPr>
          <p:cNvPr id="7" name="card-85"/>
          <p:cNvSpPr/>
          <p:nvPr/>
        </p:nvSpPr>
        <p:spPr>
          <a:xfrm>
            <a:off x="4297680" y="1463040"/>
            <a:ext cx="3566160" cy="4480560"/>
          </a:xfrm>
          <a:prstGeom prst="roundRect">
            <a:avLst>
              <a:gd name="adj" fmla="val 4615"/>
            </a:avLst>
          </a:prstGeom>
          <a:solidFill>
            <a:srgbClr val="0F6B47"/>
          </a:solidFill>
          <a:ln w="12700">
            <a:solidFill>
              <a:srgbClr val="0F6B47"/>
            </a:solidFill>
            <a:prstDash val="solid"/>
          </a:ln>
        </p:spPr>
      </p:sp>
      <p:sp>
        <p:nvSpPr>
          <p:cNvPr id="8" name="t-86"/>
          <p:cNvSpPr txBox="1"/>
          <p:nvPr/>
        </p:nvSpPr>
        <p:spPr>
          <a:xfrm>
            <a:off x="461772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FreshKeep Plus</a:t>
            </a:r>
            <a:endParaRPr lang="en-US" sz="2600" dirty="0"/>
          </a:p>
        </p:txBody>
      </p:sp>
      <p:sp>
        <p:nvSpPr>
          <p:cNvPr id="9" name="t-87"/>
          <p:cNvSpPr txBox="1"/>
          <p:nvPr/>
        </p:nvSpPr>
        <p:spPr>
          <a:xfrm>
            <a:off x="4617720" y="2331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E8D4"/>
                </a:solidFill>
              </a:rPr>
              <a:t>USD 2.99 / month · USD 24.99 / year (proposed)</a:t>
            </a:r>
            <a:endParaRPr lang="en-US" sz="1400" dirty="0"/>
          </a:p>
        </p:txBody>
      </p:sp>
      <p:sp>
        <p:nvSpPr>
          <p:cNvPr id="10" name="tier-1"/>
          <p:cNvSpPr txBox="1"/>
          <p:nvPr/>
        </p:nvSpPr>
        <p:spPr>
          <a:xfrm>
            <a:off x="4617720" y="320040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Spatial fridge &amp; timeline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Household sharing &amp; iCloud sync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Premium recipe packs</a:t>
            </a:r>
            <a:endParaRPr lang="en-US" sz="1600" dirty="0"/>
          </a:p>
        </p:txBody>
      </p:sp>
      <p:sp>
        <p:nvSpPr>
          <p:cNvPr id="11" name="card-88"/>
          <p:cNvSpPr/>
          <p:nvPr/>
        </p:nvSpPr>
        <p:spPr>
          <a:xfrm>
            <a:off x="8046720" y="1463040"/>
            <a:ext cx="3566160" cy="4480560"/>
          </a:xfrm>
          <a:prstGeom prst="roundRect">
            <a:avLst>
              <a:gd name="adj" fmla="val 4615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2" name="t-89"/>
          <p:cNvSpPr txBox="1"/>
          <p:nvPr/>
        </p:nvSpPr>
        <p:spPr>
          <a:xfrm>
            <a:off x="836676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814"/>
                </a:solidFill>
              </a:rPr>
              <a:t>Partners</a:t>
            </a:r>
            <a:endParaRPr lang="en-US" sz="2600" dirty="0"/>
          </a:p>
        </p:txBody>
      </p:sp>
      <p:sp>
        <p:nvSpPr>
          <p:cNvPr id="13" name="t-90"/>
          <p:cNvSpPr txBox="1"/>
          <p:nvPr/>
        </p:nvSpPr>
        <p:spPr>
          <a:xfrm>
            <a:off x="8366760" y="2331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64"/>
                </a:solidFill>
              </a:rPr>
              <a:t>B2B (future)</a:t>
            </a:r>
            <a:endParaRPr lang="en-US" sz="1400" dirty="0"/>
          </a:p>
        </p:txBody>
      </p:sp>
      <p:sp>
        <p:nvSpPr>
          <p:cNvPr id="14" name="tier-2"/>
          <p:cNvSpPr txBox="1"/>
          <p:nvPr/>
        </p:nvSpPr>
        <p:spPr>
          <a:xfrm>
            <a:off x="8366760" y="320040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14"/>
                </a:solidFill>
              </a:rPr>
              <a:t>Grocery partners: “use it up” offers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14"/>
                </a:solidFill>
              </a:rPr>
              <a:t>Appliance makers: licensed spatial view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14"/>
                </a:solidFill>
              </a:rPr>
              <a:t>Anonymised waste insights for NGOs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Go-to-market plan</a:t>
            </a:r>
            <a:endParaRPr lang="en-US" sz="3600" dirty="0"/>
          </a:p>
        </p:txBody>
      </p:sp>
      <p:sp>
        <p:nvSpPr>
          <p:cNvPr id="3" name="timeline"/>
          <p:cNvSpPr/>
          <p:nvPr/>
        </p:nvSpPr>
        <p:spPr>
          <a:xfrm>
            <a:off x="1097280" y="2880360"/>
            <a:ext cx="9966960" cy="0"/>
          </a:xfrm>
          <a:prstGeom prst="line">
            <a:avLst/>
          </a:prstGeom>
          <a:noFill/>
          <a:ln w="38100">
            <a:solidFill>
              <a:srgbClr val="2BAE66"/>
            </a:solidFill>
            <a:prstDash val="solid"/>
          </a:ln>
        </p:spPr>
      </p:sp>
      <p:sp>
        <p:nvSpPr>
          <p:cNvPr id="4" name="step-0"/>
          <p:cNvSpPr/>
          <p:nvPr/>
        </p:nvSpPr>
        <p:spPr>
          <a:xfrm>
            <a:off x="822960" y="2514600"/>
            <a:ext cx="731520" cy="731520"/>
          </a:xfrm>
          <a:prstGeom prst="ellipse">
            <a:avLst/>
          </a:prstGeom>
          <a:solidFill>
            <a:srgbClr val="0F6B4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-91"/>
          <p:cNvSpPr txBox="1"/>
          <p:nvPr/>
        </p:nvSpPr>
        <p:spPr>
          <a:xfrm>
            <a:off x="82296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-92"/>
          <p:cNvSpPr txBox="1"/>
          <p:nvPr/>
        </p:nvSpPr>
        <p:spPr>
          <a:xfrm>
            <a:off x="54864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6B47"/>
                </a:solidFill>
              </a:rPr>
              <a:t>Launch iOS</a:t>
            </a:r>
            <a:endParaRPr lang="en-US" sz="2000" dirty="0"/>
          </a:p>
        </p:txBody>
      </p:sp>
      <p:sp>
        <p:nvSpPr>
          <p:cNvPr id="7" name="t-93"/>
          <p:cNvSpPr txBox="1"/>
          <p:nvPr/>
        </p:nvSpPr>
        <p:spPr>
          <a:xfrm>
            <a:off x="548640" y="402336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B64"/>
                </a:solidFill>
              </a:rPr>
              <a:t>Free on the App Store; campus and sustainability communities in Sri Lanka</a:t>
            </a:r>
            <a:endParaRPr lang="en-US" sz="1500" dirty="0"/>
          </a:p>
        </p:txBody>
      </p:sp>
      <p:sp>
        <p:nvSpPr>
          <p:cNvPr id="8" name="step-1"/>
          <p:cNvSpPr/>
          <p:nvPr/>
        </p:nvSpPr>
        <p:spPr>
          <a:xfrm>
            <a:off x="3657600" y="2514600"/>
            <a:ext cx="731520" cy="731520"/>
          </a:xfrm>
          <a:prstGeom prst="ellipse">
            <a:avLst/>
          </a:prstGeom>
          <a:solidFill>
            <a:srgbClr val="0F6B4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-94"/>
          <p:cNvSpPr txBox="1"/>
          <p:nvPr/>
        </p:nvSpPr>
        <p:spPr>
          <a:xfrm>
            <a:off x="365760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-95"/>
          <p:cNvSpPr txBox="1"/>
          <p:nvPr/>
        </p:nvSpPr>
        <p:spPr>
          <a:xfrm>
            <a:off x="338328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6B47"/>
                </a:solidFill>
              </a:rPr>
              <a:t>Add Spatial</a:t>
            </a:r>
            <a:endParaRPr lang="en-US" sz="2000" dirty="0"/>
          </a:p>
        </p:txBody>
      </p:sp>
      <p:sp>
        <p:nvSpPr>
          <p:cNvPr id="11" name="t-96"/>
          <p:cNvSpPr txBox="1"/>
          <p:nvPr/>
        </p:nvSpPr>
        <p:spPr>
          <a:xfrm>
            <a:off x="3383280" y="402336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B64"/>
                </a:solidFill>
              </a:rPr>
              <a:t>Release FreshKeep Plus with the visionOS app; App Store feature pitch</a:t>
            </a:r>
            <a:endParaRPr lang="en-US" sz="1500" dirty="0"/>
          </a:p>
        </p:txBody>
      </p:sp>
      <p:sp>
        <p:nvSpPr>
          <p:cNvPr id="12" name="step-2"/>
          <p:cNvSpPr/>
          <p:nvPr/>
        </p:nvSpPr>
        <p:spPr>
          <a:xfrm>
            <a:off x="6492240" y="2514600"/>
            <a:ext cx="731520" cy="731520"/>
          </a:xfrm>
          <a:prstGeom prst="ellipse">
            <a:avLst/>
          </a:prstGeom>
          <a:solidFill>
            <a:srgbClr val="0F6B4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-97"/>
          <p:cNvSpPr txBox="1"/>
          <p:nvPr/>
        </p:nvSpPr>
        <p:spPr>
          <a:xfrm>
            <a:off x="649224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-98"/>
          <p:cNvSpPr txBox="1"/>
          <p:nvPr/>
        </p:nvSpPr>
        <p:spPr>
          <a:xfrm>
            <a:off x="621792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6B47"/>
                </a:solidFill>
              </a:rPr>
              <a:t>Build proof</a:t>
            </a:r>
            <a:endParaRPr lang="en-US" sz="2000" dirty="0"/>
          </a:p>
        </p:txBody>
      </p:sp>
      <p:sp>
        <p:nvSpPr>
          <p:cNvPr id="15" name="t-99"/>
          <p:cNvSpPr txBox="1"/>
          <p:nvPr/>
        </p:nvSpPr>
        <p:spPr>
          <a:xfrm>
            <a:off x="6217920" y="402336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B64"/>
                </a:solidFill>
              </a:rPr>
              <a:t>Publish rescue stats; partner with food-waste NGOs and cooking creators</a:t>
            </a:r>
            <a:endParaRPr lang="en-US" sz="1500" dirty="0"/>
          </a:p>
        </p:txBody>
      </p:sp>
      <p:sp>
        <p:nvSpPr>
          <p:cNvPr id="16" name="step-3"/>
          <p:cNvSpPr/>
          <p:nvPr/>
        </p:nvSpPr>
        <p:spPr>
          <a:xfrm>
            <a:off x="9326880" y="2514600"/>
            <a:ext cx="731520" cy="731520"/>
          </a:xfrm>
          <a:prstGeom prst="ellipse">
            <a:avLst/>
          </a:prstGeom>
          <a:solidFill>
            <a:srgbClr val="0F6B4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-100"/>
          <p:cNvSpPr txBox="1"/>
          <p:nvPr/>
        </p:nvSpPr>
        <p:spPr>
          <a:xfrm>
            <a:off x="932688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8" name="t-101"/>
          <p:cNvSpPr txBox="1"/>
          <p:nvPr/>
        </p:nvSpPr>
        <p:spPr>
          <a:xfrm>
            <a:off x="905256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6B47"/>
                </a:solidFill>
              </a:rPr>
              <a:t>Partner</a:t>
            </a:r>
            <a:endParaRPr lang="en-US" sz="2000" dirty="0"/>
          </a:p>
        </p:txBody>
      </p:sp>
      <p:sp>
        <p:nvSpPr>
          <p:cNvPr id="19" name="t-102"/>
          <p:cNvSpPr txBox="1"/>
          <p:nvPr/>
        </p:nvSpPr>
        <p:spPr>
          <a:xfrm>
            <a:off x="9052560" y="402336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B64"/>
                </a:solidFill>
              </a:rPr>
              <a:t>Pilot "use it up" offers with grocers; explore appliance licensing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Built to scale across Apple platforms</a:t>
            </a:r>
            <a:endParaRPr lang="en-US" sz="3600" dirty="0"/>
          </a:p>
        </p:txBody>
      </p:sp>
      <p:pic>
        <p:nvPicPr>
          <p:cNvPr id="3" name="img-103" descr="C:\Users\srith\Projects\SE4041-FreshKeep\docs\images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583680" cy="4608576"/>
          </a:xfrm>
          <a:prstGeom prst="rect">
            <a:avLst/>
          </a:prstGeom>
        </p:spPr>
      </p:pic>
      <p:sp>
        <p:nvSpPr>
          <p:cNvPr id="4" name="tech-points"/>
          <p:cNvSpPr txBox="1"/>
          <p:nvPr/>
        </p:nvSpPr>
        <p:spPr>
          <a:xfrm>
            <a:off x="7498080" y="155448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814"/>
                </a:solidFill>
              </a:rPr>
              <a:t>One Swift package shared by iPhone and Vision Pro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814"/>
                </a:solidFill>
              </a:rPr>
              <a:t>SwiftData model shared by both apps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814"/>
                </a:solidFill>
              </a:rPr>
              <a:t>On-device Vision AI — private and offline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814"/>
                </a:solidFill>
              </a:rPr>
              <a:t>RealityKit entities generated in code (small app size)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814"/>
                </a:solidFill>
              </a:rPr>
              <a:t>50+ automated tests run on every push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Impact and roadmap</a:t>
            </a:r>
            <a:endParaRPr lang="en-US" sz="3600" dirty="0"/>
          </a:p>
        </p:txBody>
      </p:sp>
      <p:sp>
        <p:nvSpPr>
          <p:cNvPr id="3" name="card-104"/>
          <p:cNvSpPr/>
          <p:nvPr/>
        </p:nvSpPr>
        <p:spPr>
          <a:xfrm>
            <a:off x="548640" y="1463040"/>
            <a:ext cx="5120640" cy="1280160"/>
          </a:xfrm>
          <a:prstGeom prst="roundRect">
            <a:avLst>
              <a:gd name="adj" fmla="val 1285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4" name="t-105"/>
          <p:cNvSpPr txBox="1"/>
          <p:nvPr/>
        </p:nvSpPr>
        <p:spPr>
          <a:xfrm>
            <a:off x="86868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6B47"/>
                </a:solidFill>
              </a:rPr>
              <a:t>Less waste</a:t>
            </a:r>
            <a:endParaRPr lang="en-US" sz="2000" dirty="0"/>
          </a:p>
        </p:txBody>
      </p:sp>
      <p:sp>
        <p:nvSpPr>
          <p:cNvPr id="5" name="t-106"/>
          <p:cNvSpPr txBox="1"/>
          <p:nvPr/>
        </p:nvSpPr>
        <p:spPr>
          <a:xfrm>
            <a:off x="868680" y="2103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B64"/>
                </a:solidFill>
              </a:rPr>
              <a:t>Urgency-first view and reminders target the main cause: forgetting</a:t>
            </a:r>
            <a:endParaRPr lang="en-US" sz="1500" dirty="0"/>
          </a:p>
        </p:txBody>
      </p:sp>
      <p:sp>
        <p:nvSpPr>
          <p:cNvPr id="6" name="card-107"/>
          <p:cNvSpPr/>
          <p:nvPr/>
        </p:nvSpPr>
        <p:spPr>
          <a:xfrm>
            <a:off x="548640" y="2926080"/>
            <a:ext cx="5120640" cy="1280160"/>
          </a:xfrm>
          <a:prstGeom prst="roundRect">
            <a:avLst>
              <a:gd name="adj" fmla="val 1285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7" name="t-108"/>
          <p:cNvSpPr txBox="1"/>
          <p:nvPr/>
        </p:nvSpPr>
        <p:spPr>
          <a:xfrm>
            <a:off x="86868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6B47"/>
                </a:solidFill>
              </a:rPr>
              <a:t>Money saved</a:t>
            </a:r>
            <a:endParaRPr lang="en-US" sz="2000" dirty="0"/>
          </a:p>
        </p:txBody>
      </p:sp>
      <p:sp>
        <p:nvSpPr>
          <p:cNvPr id="8" name="t-109"/>
          <p:cNvSpPr txBox="1"/>
          <p:nvPr/>
        </p:nvSpPr>
        <p:spPr>
          <a:xfrm>
            <a:off x="868680" y="3566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B64"/>
                </a:solidFill>
              </a:rPr>
              <a:t>Every rescued item is tracked in LKR so users see the benefit</a:t>
            </a:r>
            <a:endParaRPr lang="en-US" sz="1500" dirty="0"/>
          </a:p>
        </p:txBody>
      </p:sp>
      <p:sp>
        <p:nvSpPr>
          <p:cNvPr id="9" name="card-110"/>
          <p:cNvSpPr/>
          <p:nvPr/>
        </p:nvSpPr>
        <p:spPr>
          <a:xfrm>
            <a:off x="548640" y="4389120"/>
            <a:ext cx="5120640" cy="1280160"/>
          </a:xfrm>
          <a:prstGeom prst="roundRect">
            <a:avLst>
              <a:gd name="adj" fmla="val 12857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0" name="t-111"/>
          <p:cNvSpPr txBox="1"/>
          <p:nvPr/>
        </p:nvSpPr>
        <p:spPr>
          <a:xfrm>
            <a:off x="86868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6B47"/>
                </a:solidFill>
              </a:rPr>
              <a:t>Lower emissions</a:t>
            </a:r>
            <a:endParaRPr lang="en-US" sz="2000" dirty="0"/>
          </a:p>
        </p:txBody>
      </p:sp>
      <p:sp>
        <p:nvSpPr>
          <p:cNvPr id="11" name="t-112"/>
          <p:cNvSpPr txBox="1"/>
          <p:nvPr/>
        </p:nvSpPr>
        <p:spPr>
          <a:xfrm>
            <a:off x="868680" y="5029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B64"/>
                </a:solidFill>
              </a:rPr>
              <a:t>Rescued food avoids its CO₂e footprint</a:t>
            </a:r>
            <a:endParaRPr lang="en-US" sz="1500" dirty="0"/>
          </a:p>
        </p:txBody>
      </p:sp>
      <p:sp>
        <p:nvSpPr>
          <p:cNvPr id="12" name="t-113"/>
          <p:cNvSpPr txBox="1"/>
          <p:nvPr/>
        </p:nvSpPr>
        <p:spPr>
          <a:xfrm>
            <a:off x="630936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6B47"/>
                </a:solidFill>
              </a:rPr>
              <a:t>Next</a:t>
            </a:r>
            <a:endParaRPr lang="en-US" sz="2200" dirty="0"/>
          </a:p>
        </p:txBody>
      </p:sp>
      <p:sp>
        <p:nvSpPr>
          <p:cNvPr id="13" name="roadmap"/>
          <p:cNvSpPr txBox="1"/>
          <p:nvPr/>
        </p:nvSpPr>
        <p:spPr>
          <a:xfrm>
            <a:off x="6309360" y="201168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814"/>
                </a:solidFill>
              </a:rPr>
              <a:t>Anchor labels to the real fridge with object tracking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814"/>
                </a:solidFill>
              </a:rPr>
              <a:t>SharePlay household mode: plan meals together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814"/>
                </a:solidFill>
              </a:rPr>
              <a:t>Custom Core ML model for local produce (jackfruit, gotukola)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814"/>
                </a:solidFill>
              </a:rPr>
              <a:t>Apple TV / iPad kitchen dashboards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See it. Save it.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57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8E8D4"/>
                </a:solidFill>
              </a:rPr>
              <a:t>Thank you — questions?</a:t>
            </a:r>
            <a:endParaRPr lang="en-US" sz="2200" dirty="0"/>
          </a:p>
        </p:txBody>
      </p:sp>
      <p:sp>
        <p:nvSpPr>
          <p:cNvPr id="4" name="t-114"/>
          <p:cNvSpPr txBox="1"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E8D4"/>
                </a:solidFill>
              </a:rPr>
              <a:t>github.com/IT21244384/SE4041-FreshKeep</a:t>
            </a:r>
            <a:endParaRPr lang="en-US" sz="1400" dirty="0"/>
          </a:p>
        </p:txBody>
      </p:sp>
      <p:pic>
        <p:nvPicPr>
          <p:cNvPr id="5" name="img-115" descr="C:\Users\srith\Projects\SE4041-FreshKeep\docs\images\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828800"/>
            <a:ext cx="2651760" cy="2651760"/>
          </a:xfrm>
          <a:prstGeom prst="ellipse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reshKeep">
  <a:themeElements>
    <a:clrScheme name="FreshKeep">
      <a:dk1>
        <a:srgbClr val="111814"/>
      </a:dk1>
      <a:lt1>
        <a:srgbClr val="FFFFFF"/>
      </a:lt1>
      <a:dk2>
        <a:srgbClr val="0F6B47"/>
      </a:dk2>
      <a:lt2>
        <a:srgbClr val="EEF5F0"/>
      </a:lt2>
      <a:accent1>
        <a:srgbClr val="2BAE66"/>
      </a:accent1>
      <a:accent2>
        <a:srgbClr val="F5A524"/>
      </a:accent2>
      <a:accent3>
        <a:srgbClr val="EF6C2F"/>
      </a:accent3>
      <a:accent4>
        <a:srgbClr val="D93D3D"/>
      </a:accent4>
      <a:accent5>
        <a:srgbClr val="5F6B64"/>
      </a:accent5>
      <a:accent6>
        <a:srgbClr val="9AD9B4"/>
      </a:accent6>
      <a:hlink>
        <a:srgbClr val="2BAE66"/>
      </a:hlink>
      <a:folHlink>
        <a:srgbClr val="0F6B47"/>
      </a:folHlink>
    </a:clrScheme>
    <a:fontScheme name="FreshKee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FreshKeep Spatial — Pitch</dc:title>
  <dc:subject>PptxGenJS Presentation</dc:subject>
  <dc:creator>Abisheak S (IT21244384)</dc:creator>
  <cp:lastModifiedBy>Abisheak S (IT21244384)</cp:lastModifiedBy>
  <cp:revision>1</cp:revision>
  <dcterms:created xsi:type="dcterms:W3CDTF">2026-10-14T06:17:47Z</dcterms:created>
  <dcterms:modified xsi:type="dcterms:W3CDTF">2026-10-14T06:17:47Z</dcterms:modified>
</cp:coreProperties>
</file>